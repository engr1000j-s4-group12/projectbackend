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龙宾楼智能导览后端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服务架构、数据流与当前功能图文概览</a:t>
            </a:r>
            <a:br/>
            <a:br/>
            <a:r>
              <a:rPr/>
              <a:t>Group 12 Backend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后端在项目中的位置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小智 ESP32-S3 终端负责语音、拍照和播报</a:t>
            </a:r>
          </a:p>
          <a:p>
            <a:pPr lvl="0"/>
            <a:r>
              <a:rPr/>
              <a:t>FastAPI 后端负责位置解析、路线规划和展品上下文</a:t>
            </a:r>
          </a:p>
          <a:p>
            <a:pPr lvl="0"/>
            <a:r>
              <a:rPr/>
              <a:t>外部 VLM 服务负责从照片中提取可定位视觉特征</a:t>
            </a:r>
          </a:p>
          <a:p>
            <a:pPr lvl="0"/>
            <a:r>
              <a:rPr/>
              <a:t>当前仓库维护后端与数据；固件源码位于 </a:t>
            </a:r>
            <a:r>
              <a:rPr>
                <a:latin typeface="Courier"/>
              </a:rPr>
              <a:t>Project-2</a:t>
            </a:r>
          </a:p>
          <a:p>
            <a:pPr lvl="0" indent="0">
              <a:buNone/>
            </a:pPr>
            <a:r>
              <a:rPr>
                <a:latin typeface="Courier"/>
              </a:rPr>
              <a:t>Terminal -&gt; FastAPI Backend -&gt; JSON Data
                       |
                       -&gt; OpenAI-compatible VLM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架构总览图</a:t>
            </a:r>
          </a:p>
        </p:txBody>
      </p:sp>
      <p:pic>
        <p:nvPicPr>
          <p:cNvPr descr="backend_diagrams/architecture_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运行时架构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server/app/main.py</a:t>
            </a:r>
            <a:r>
              <a:rPr/>
              <a:t>：FastAPI 应用和 API 路由</a:t>
            </a:r>
          </a:p>
          <a:p>
            <a:pPr lvl="0"/>
            <a:r>
              <a:rPr>
                <a:latin typeface="Courier"/>
              </a:rPr>
              <a:t>repository.py</a:t>
            </a:r>
            <a:r>
              <a:rPr/>
              <a:t>：加载 JSON，校验数据，构建别名索引</a:t>
            </a:r>
          </a:p>
          <a:p>
            <a:pPr lvl="0"/>
            <a:r>
              <a:rPr>
                <a:latin typeface="Courier"/>
              </a:rPr>
              <a:t>navigation.py</a:t>
            </a:r>
            <a:r>
              <a:rPr/>
              <a:t>：基于 Dijkstra 的最短路径规划</a:t>
            </a:r>
          </a:p>
          <a:p>
            <a:pPr lvl="0"/>
            <a:r>
              <a:rPr>
                <a:latin typeface="Courier"/>
              </a:rPr>
              <a:t>visual_localization.py</a:t>
            </a:r>
            <a:r>
              <a:rPr/>
              <a:t>：基于视觉地标的规则评分定位</a:t>
            </a:r>
          </a:p>
          <a:p>
            <a:pPr lvl="0"/>
            <a:r>
              <a:rPr>
                <a:latin typeface="Courier"/>
              </a:rPr>
              <a:t>vlm.py</a:t>
            </a:r>
            <a:r>
              <a:rPr/>
              <a:t>：OpenAI 兼容 VLM 请求适配器</a:t>
            </a:r>
          </a:p>
          <a:p>
            <a:pPr lvl="0"/>
            <a:r>
              <a:rPr>
                <a:latin typeface="Courier"/>
              </a:rPr>
              <a:t>schemas.py</a:t>
            </a:r>
            <a:r>
              <a:rPr/>
              <a:t>：Pydantic 请求和响应模型</a:t>
            </a:r>
          </a:p>
          <a:p>
            <a:pPr lvl="0"/>
            <a:r>
              <a:rPr>
                <a:latin typeface="Courier"/>
              </a:rPr>
              <a:t>errors.py</a:t>
            </a:r>
            <a:r>
              <a:rPr/>
              <a:t>：业务错误类型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请求处理流程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/api/v1/localize</a:t>
            </a:r>
            <a:r>
              <a:rPr/>
              <a:t>：二维码或地点 ID -&gt; 标准节点</a:t>
            </a:r>
          </a:p>
          <a:p>
            <a:pPr lvl="0"/>
            <a:r>
              <a:rPr>
                <a:latin typeface="Courier"/>
              </a:rPr>
              <a:t>/api/v1/localize/image</a:t>
            </a:r>
            <a:r>
              <a:rPr/>
              <a:t>：图片 -&gt; VLM -&gt; 结构化视觉证据 -&gt; 地点候选</a:t>
            </a:r>
          </a:p>
          <a:p>
            <a:pPr lvl="0"/>
            <a:r>
              <a:rPr>
                <a:latin typeface="Courier"/>
              </a:rPr>
              <a:t>/api/v1/route</a:t>
            </a:r>
            <a:r>
              <a:rPr/>
              <a:t>：起点和终点 -&gt; 图搜索 -&gt; 分段导航指令</a:t>
            </a:r>
          </a:p>
          <a:p>
            <a:pPr lvl="0"/>
            <a:r>
              <a:rPr>
                <a:latin typeface="Courier"/>
              </a:rPr>
              <a:t>/api/v1/exhibits/{id}/context</a:t>
            </a:r>
            <a:r>
              <a:rPr/>
              <a:t>：展品 ID + 问题 -&gt; 可供 LLM 使用的事实上下文</a:t>
            </a:r>
          </a:p>
          <a:p>
            <a:pPr lvl="0"/>
            <a:r>
              <a:rPr>
                <a:latin typeface="Courier"/>
              </a:rPr>
              <a:t>/api/v1/resolve</a:t>
            </a:r>
            <a:r>
              <a:rPr/>
              <a:t>：房间号、中文名、英文名、别名 -&gt; 节点 ID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图片定位数据流</a:t>
            </a:r>
          </a:p>
        </p:txBody>
      </p:sp>
      <p:pic>
        <p:nvPicPr>
          <p:cNvPr descr="backend_diagrams/image_localization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路线规划数据流</a:t>
            </a:r>
          </a:p>
        </p:txBody>
      </p:sp>
      <p:pic>
        <p:nvPicPr>
          <p:cNvPr descr="backend_diagrams/route_planning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数据层不是外部数据库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当前没有 MySQL、PostgreSQL、SQLite 或向量数据库</a:t>
            </a:r>
          </a:p>
          <a:p>
            <a:pPr lvl="0"/>
            <a:r>
              <a:rPr/>
              <a:t>数据主存储是仓库内 JSON 文件</a:t>
            </a:r>
          </a:p>
          <a:p>
            <a:pPr lvl="0"/>
            <a:r>
              <a:rPr/>
              <a:t>服务启动时一次性加载到内存，并构建运行时索引</a:t>
            </a:r>
          </a:p>
          <a:p>
            <a:pPr lvl="0"/>
            <a:r>
              <a:rPr/>
              <a:t>可用 </a:t>
            </a:r>
            <a:r>
              <a:rPr>
                <a:latin typeface="Courier"/>
              </a:rPr>
              <a:t>MUSEUM_DATA_DIR</a:t>
            </a:r>
            <a:r>
              <a:rPr/>
              <a:t> 替换数据目录</a:t>
            </a:r>
          </a:p>
          <a:p>
            <a:pPr lvl="0"/>
            <a:r>
              <a:rPr/>
              <a:t>启动阶段会校验节点、边、展品和视觉地标</a:t>
            </a:r>
          </a:p>
          <a:p>
            <a:pPr lvl="0" indent="0">
              <a:buNone/>
            </a:pPr>
            <a:r>
              <a:rPr>
                <a:latin typeface="Courier"/>
              </a:rPr>
              <a:t>data/building_map.json -&gt; 地图图结构
data/exhibits.json     -&gt; 展品资料
data/building_map_nodes.xlsx -&gt; 人工维护表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地图数据库内容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建筑：龙宾楼，当前覆盖 4 楼</a:t>
            </a:r>
          </a:p>
          <a:p>
            <a:pPr lvl="0"/>
            <a:r>
              <a:rPr/>
              <a:t>楼层外轮廓：约 70 m x 80 m</a:t>
            </a:r>
          </a:p>
          <a:p>
            <a:pPr lvl="0"/>
            <a:r>
              <a:rPr/>
              <a:t>坐标系：平面图左上角为原点，单位为米</a:t>
            </a:r>
          </a:p>
          <a:p>
            <a:pPr lvl="0"/>
            <a:r>
              <a:rPr/>
              <a:t>节点数：124</a:t>
            </a:r>
          </a:p>
          <a:p>
            <a:pPr lvl="0"/>
            <a:r>
              <a:rPr/>
              <a:t>边数：129</a:t>
            </a:r>
          </a:p>
          <a:p>
            <a:pPr lvl="0"/>
            <a:r>
              <a:rPr/>
              <a:t>展品数：1</a:t>
            </a:r>
          </a:p>
          <a:p>
            <a:pPr lvl="0"/>
            <a:r>
              <a:rPr/>
              <a:t>当前坐标、距离和视觉地标来自楼层索引图估算，仍需现场校准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节点类型统计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房间：89</a:t>
            </a:r>
          </a:p>
          <a:p>
            <a:pPr lvl="0"/>
            <a:r>
              <a:rPr/>
              <a:t>走廊节点：12</a:t>
            </a:r>
          </a:p>
          <a:p>
            <a:pPr lvl="0"/>
            <a:r>
              <a:rPr/>
              <a:t>消防栓：12</a:t>
            </a:r>
          </a:p>
          <a:p>
            <a:pPr lvl="0"/>
            <a:r>
              <a:rPr/>
              <a:t>楼梯：4</a:t>
            </a:r>
          </a:p>
          <a:p>
            <a:pPr lvl="0"/>
            <a:r>
              <a:rPr/>
              <a:t>卫生间：2</a:t>
            </a:r>
          </a:p>
          <a:p>
            <a:pPr lvl="0"/>
            <a:r>
              <a:rPr/>
              <a:t>茶水间：2</a:t>
            </a:r>
          </a:p>
          <a:p>
            <a:pPr lvl="0"/>
            <a:r>
              <a:rPr/>
              <a:t>电梯：1</a:t>
            </a:r>
          </a:p>
          <a:p>
            <a:pPr lvl="0"/>
            <a:r>
              <a:rPr/>
              <a:t>货梯：1</a:t>
            </a:r>
          </a:p>
          <a:p>
            <a:pPr lvl="0"/>
            <a:r>
              <a:rPr/>
              <a:t>当前位置标记：1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节点与边的数据结构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节点字段：</a:t>
            </a:r>
          </a:p>
          <a:p>
            <a:pPr lvl="0"/>
            <a:r>
              <a:rPr>
                <a:latin typeface="Courier"/>
              </a:rPr>
              <a:t>id</a:t>
            </a:r>
            <a:r>
              <a:rPr/>
              <a:t>、</a:t>
            </a:r>
            <a:r>
              <a:rPr>
                <a:latin typeface="Courier"/>
              </a:rPr>
              <a:t>name_zh</a:t>
            </a:r>
            <a:r>
              <a:rPr/>
              <a:t>、</a:t>
            </a:r>
            <a:r>
              <a:rPr>
                <a:latin typeface="Courier"/>
              </a:rPr>
              <a:t>name_en</a:t>
            </a:r>
            <a:r>
              <a:rPr/>
              <a:t>、</a:t>
            </a:r>
            <a:r>
              <a:rPr>
                <a:latin typeface="Courier"/>
              </a:rPr>
              <a:t>floor</a:t>
            </a:r>
            <a:r>
              <a:rPr/>
              <a:t>、</a:t>
            </a:r>
            <a:r>
              <a:rPr>
                <a:latin typeface="Courier"/>
              </a:rPr>
              <a:t>kind</a:t>
            </a:r>
          </a:p>
          <a:p>
            <a:pPr lvl="0"/>
            <a:r>
              <a:rPr>
                <a:latin typeface="Courier"/>
              </a:rPr>
              <a:t>aliases</a:t>
            </a:r>
            <a:r>
              <a:rPr/>
              <a:t>：房间号、中文别名、英文别名</a:t>
            </a:r>
          </a:p>
          <a:p>
            <a:pPr lvl="0"/>
            <a:r>
              <a:rPr>
                <a:latin typeface="Courier"/>
              </a:rPr>
              <a:t>position</a:t>
            </a:r>
            <a:r>
              <a:rPr/>
              <a:t>：</a:t>
            </a:r>
            <a:r>
              <a:rPr>
                <a:latin typeface="Courier"/>
              </a:rPr>
              <a:t>x_m</a:t>
            </a:r>
            <a:r>
              <a:rPr/>
              <a:t>、</a:t>
            </a:r>
            <a:r>
              <a:rPr>
                <a:latin typeface="Courier"/>
              </a:rPr>
              <a:t>y_m</a:t>
            </a:r>
          </a:p>
          <a:p>
            <a:pPr lvl="0"/>
            <a:r>
              <a:rPr>
                <a:latin typeface="Courier"/>
              </a:rPr>
              <a:t>visual_landmarks</a:t>
            </a:r>
            <a:r>
              <a:rPr/>
              <a:t>：视觉匹配别名和权重</a:t>
            </a:r>
          </a:p>
          <a:p>
            <a:pPr lvl="0"/>
            <a:r>
              <a:rPr>
                <a:latin typeface="Courier"/>
              </a:rPr>
              <a:t>remark</a:t>
            </a:r>
            <a:r>
              <a:rPr/>
              <a:t>：数据备注</a:t>
            </a:r>
          </a:p>
          <a:p>
            <a:pPr lvl="0" indent="0" marL="0">
              <a:buNone/>
            </a:pPr>
            <a:r>
              <a:rPr/>
              <a:t>边字段：</a:t>
            </a:r>
          </a:p>
          <a:p>
            <a:pPr lvl="0"/>
            <a:r>
              <a:rPr>
                <a:latin typeface="Courier"/>
              </a:rPr>
              <a:t>from</a:t>
            </a:r>
            <a:r>
              <a:rPr/>
              <a:t>、</a:t>
            </a:r>
            <a:r>
              <a:rPr>
                <a:latin typeface="Courier"/>
              </a:rPr>
              <a:t>to</a:t>
            </a:r>
            <a:r>
              <a:rPr/>
              <a:t>、</a:t>
            </a:r>
            <a:r>
              <a:rPr>
                <a:latin typeface="Courier"/>
              </a:rPr>
              <a:t>distance_m</a:t>
            </a:r>
          </a:p>
          <a:p>
            <a:pPr lvl="0"/>
            <a:r>
              <a:rPr>
                <a:latin typeface="Courier"/>
              </a:rPr>
              <a:t>bidirectional</a:t>
            </a:r>
            <a:r>
              <a:rPr/>
              <a:t>、</a:t>
            </a:r>
            <a:r>
              <a:rPr>
                <a:latin typeface="Courier"/>
              </a:rPr>
              <a:t>accessible</a:t>
            </a:r>
          </a:p>
          <a:p>
            <a:pPr lvl="0"/>
            <a:r>
              <a:rPr>
                <a:latin typeface="Courier"/>
              </a:rPr>
              <a:t>instructions.forward/reverse.zh/en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导航能力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支持节点 ID、房间号和别名作为起点/终点</a:t>
            </a:r>
          </a:p>
          <a:p>
            <a:pPr lvl="0"/>
            <a:r>
              <a:rPr/>
              <a:t>使用 Dijkstra 计算最短路径</a:t>
            </a:r>
          </a:p>
          <a:p>
            <a:pPr lvl="0"/>
            <a:r>
              <a:rPr/>
              <a:t>支持普通路线和无障碍路线</a:t>
            </a:r>
          </a:p>
          <a:p>
            <a:pPr lvl="0"/>
            <a:r>
              <a:rPr>
                <a:latin typeface="Courier"/>
              </a:rPr>
              <a:t>accessible_only=true</a:t>
            </a:r>
            <a:r>
              <a:rPr/>
              <a:t> 时会排除不可无障碍通行的边</a:t>
            </a:r>
          </a:p>
          <a:p>
            <a:pPr lvl="0"/>
            <a:r>
              <a:rPr/>
              <a:t>支持中文和英文导航指令</a:t>
            </a:r>
          </a:p>
          <a:p>
            <a:pPr lvl="0"/>
            <a:r>
              <a:rPr/>
              <a:t>起点等于终点时返回 0 米、0 步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视觉定位能力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图片上传限制：JPEG、PNG、WebP，最大 5 MiB</a:t>
            </a:r>
          </a:p>
          <a:p>
            <a:pPr lvl="0"/>
            <a:r>
              <a:rPr/>
              <a:t>VLM 配置项：</a:t>
            </a:r>
            <a:r>
              <a:rPr>
                <a:latin typeface="Courier"/>
              </a:rPr>
              <a:t>VLM_BASE_URL</a:t>
            </a:r>
            <a:r>
              <a:rPr/>
              <a:t>、</a:t>
            </a:r>
            <a:r>
              <a:rPr>
                <a:latin typeface="Courier"/>
              </a:rPr>
              <a:t>VLM_API_KEY</a:t>
            </a:r>
            <a:r>
              <a:rPr/>
              <a:t>、</a:t>
            </a:r>
            <a:r>
              <a:rPr>
                <a:latin typeface="Courier"/>
              </a:rPr>
              <a:t>VLM_MODEL</a:t>
            </a:r>
          </a:p>
          <a:p>
            <a:pPr lvl="0"/>
            <a:r>
              <a:rPr/>
              <a:t>VLM 只提取客观视觉证据，不直接猜地点</a:t>
            </a:r>
          </a:p>
          <a:p>
            <a:pPr lvl="0"/>
            <a:r>
              <a:rPr/>
              <a:t>后端用视觉地标和楼层提示计算候选地点</a:t>
            </a:r>
          </a:p>
          <a:p>
            <a:pPr lvl="0"/>
            <a:r>
              <a:rPr/>
              <a:t>返回状态：</a:t>
            </a:r>
            <a:r>
              <a:rPr>
                <a:latin typeface="Courier"/>
              </a:rPr>
              <a:t>matched</a:t>
            </a:r>
            <a:r>
              <a:rPr/>
              <a:t>、</a:t>
            </a:r>
            <a:r>
              <a:rPr>
                <a:latin typeface="Courier"/>
              </a:rPr>
              <a:t>ambiguous</a:t>
            </a:r>
            <a:r>
              <a:rPr/>
              <a:t>、</a:t>
            </a:r>
            <a:r>
              <a:rPr>
                <a:latin typeface="Courier"/>
              </a:rPr>
              <a:t>not_found</a:t>
            </a:r>
          </a:p>
          <a:p>
            <a:pPr lvl="0"/>
            <a:r>
              <a:rPr/>
              <a:t>低置信度或候选接近时要求用户确认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展品与 RAG 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当前 </a:t>
            </a:r>
            <a:r>
              <a:rPr>
                <a:latin typeface="Courier"/>
              </a:rPr>
              <a:t>exhibits.json</a:t>
            </a:r>
            <a:r>
              <a:rPr/>
              <a:t> 是轻量展品知识库</a:t>
            </a:r>
          </a:p>
          <a:p>
            <a:pPr lvl="0"/>
            <a:r>
              <a:rPr/>
              <a:t>已有示例展品：</a:t>
            </a:r>
            <a:r>
              <a:rPr>
                <a:latin typeface="Courier"/>
              </a:rPr>
              <a:t>ROBOT-001</a:t>
            </a:r>
          </a:p>
          <a:p>
            <a:pPr lvl="0"/>
            <a:r>
              <a:rPr/>
              <a:t>当前关联地点：</a:t>
            </a:r>
            <a:r>
              <a:rPr>
                <a:latin typeface="Courier"/>
              </a:rPr>
              <a:t>LB-4F-ROOM-400</a:t>
            </a:r>
          </a:p>
          <a:p>
            <a:pPr lvl="0"/>
            <a:r>
              <a:rPr/>
              <a:t>展品资料包含中英文简介和 facts</a:t>
            </a:r>
          </a:p>
          <a:p>
            <a:pPr lvl="0"/>
            <a:r>
              <a:rPr>
                <a:latin typeface="Courier"/>
              </a:rPr>
              <a:t>/context</a:t>
            </a:r>
            <a:r>
              <a:rPr/>
              <a:t> 返回 facts 和回答约束</a:t>
            </a:r>
          </a:p>
          <a:p>
            <a:pPr lvl="0"/>
            <a:r>
              <a:rPr/>
              <a:t>还没有真正接入向量库或完整 RAG 检索管线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展品上下文数据流</a:t>
            </a:r>
          </a:p>
        </p:txBody>
      </p:sp>
      <p:pic>
        <p:nvPicPr>
          <p:cNvPr descr="backend_diagrams/exhibit_context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 功能清单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GET /health</a:t>
            </a:r>
            <a:r>
              <a:rPr/>
              <a:t>：服务健康检查</a:t>
            </a:r>
          </a:p>
          <a:p>
            <a:pPr lvl="0"/>
            <a:r>
              <a:rPr>
                <a:latin typeface="Courier"/>
              </a:rPr>
              <a:t>GET /api/v1/places</a:t>
            </a:r>
            <a:r>
              <a:rPr/>
              <a:t>：地点列表</a:t>
            </a:r>
          </a:p>
          <a:p>
            <a:pPr lvl="0"/>
            <a:r>
              <a:rPr>
                <a:latin typeface="Courier"/>
              </a:rPr>
              <a:t>POST /api/v1/localize</a:t>
            </a:r>
            <a:r>
              <a:rPr/>
              <a:t>：二维码或 marker 定位</a:t>
            </a:r>
          </a:p>
          <a:p>
            <a:pPr lvl="0"/>
            <a:r>
              <a:rPr>
                <a:latin typeface="Courier"/>
              </a:rPr>
              <a:t>POST /api/v1/localize/visual</a:t>
            </a:r>
            <a:r>
              <a:rPr/>
              <a:t>：结构化视觉证据定位</a:t>
            </a:r>
          </a:p>
          <a:p>
            <a:pPr lvl="0"/>
            <a:r>
              <a:rPr>
                <a:latin typeface="Courier"/>
              </a:rPr>
              <a:t>POST /api/v1/localize/image</a:t>
            </a:r>
            <a:r>
              <a:rPr/>
              <a:t>：图片定位</a:t>
            </a:r>
          </a:p>
          <a:p>
            <a:pPr lvl="0"/>
            <a:r>
              <a:rPr>
                <a:latin typeface="Courier"/>
              </a:rPr>
              <a:t>POST /api/v1/route</a:t>
            </a:r>
            <a:r>
              <a:rPr/>
              <a:t>：路线规划</a:t>
            </a:r>
          </a:p>
          <a:p>
            <a:pPr lvl="0"/>
            <a:r>
              <a:rPr>
                <a:latin typeface="Courier"/>
              </a:rPr>
              <a:t>GET /api/v1/exhibits</a:t>
            </a:r>
            <a:r>
              <a:rPr/>
              <a:t>：展品列表</a:t>
            </a:r>
          </a:p>
          <a:p>
            <a:pPr lvl="0"/>
            <a:r>
              <a:rPr>
                <a:latin typeface="Courier"/>
              </a:rPr>
              <a:t>GET /api/v1/exhibits/{id}</a:t>
            </a:r>
            <a:r>
              <a:rPr/>
              <a:t>：展品详情</a:t>
            </a:r>
          </a:p>
          <a:p>
            <a:pPr lvl="0"/>
            <a:r>
              <a:rPr>
                <a:latin typeface="Courier"/>
              </a:rPr>
              <a:t>POST /api/v1/exhibits/{id}/context</a:t>
            </a:r>
            <a:r>
              <a:rPr/>
              <a:t>：展品问答上下文</a:t>
            </a:r>
          </a:p>
          <a:p>
            <a:pPr lvl="0"/>
            <a:r>
              <a:rPr>
                <a:latin typeface="Courier"/>
              </a:rPr>
              <a:t>GET /api/v1/resolve</a:t>
            </a:r>
            <a:r>
              <a:rPr/>
              <a:t>：地点别名解析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运维与数据维护工具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scripts/export_building_map_excel.py</a:t>
            </a:r>
            <a:r>
              <a:rPr/>
              <a:t>：JSON -&gt; Excel</a:t>
            </a:r>
          </a:p>
          <a:p>
            <a:pPr lvl="0"/>
            <a:r>
              <a:rPr>
                <a:latin typeface="Courier"/>
              </a:rPr>
              <a:t>scripts/import_building_map_excel.py</a:t>
            </a:r>
            <a:r>
              <a:rPr/>
              <a:t>：Excel -&gt; JSON</a:t>
            </a:r>
          </a:p>
          <a:p>
            <a:pPr lvl="0"/>
            <a:r>
              <a:rPr>
                <a:latin typeface="Courier"/>
              </a:rPr>
              <a:t>scripts/verify_api.py</a:t>
            </a:r>
            <a:r>
              <a:rPr/>
              <a:t>：端到端接口检查</a:t>
            </a:r>
          </a:p>
          <a:p>
            <a:pPr lvl="0"/>
            <a:r>
              <a:rPr>
                <a:latin typeface="Courier"/>
              </a:rPr>
              <a:t>tests/</a:t>
            </a:r>
            <a:r>
              <a:rPr/>
              <a:t>：21 项自动化测试</a:t>
            </a:r>
          </a:p>
          <a:p>
            <a:pPr lvl="0"/>
            <a:r>
              <a:rPr/>
              <a:t>FastAPI 自动文档：</a:t>
            </a:r>
            <a:r>
              <a:rPr>
                <a:latin typeface="Courier"/>
              </a:rPr>
              <a:t>/docs</a:t>
            </a:r>
            <a:r>
              <a:rPr/>
              <a:t> 和 </a:t>
            </a:r>
            <a:r>
              <a:rPr>
                <a:latin typeface="Courier"/>
              </a:rPr>
              <a:t>/openapi.json</a:t>
            </a:r>
          </a:p>
          <a:p>
            <a:pPr lvl="0"/>
            <a:r>
              <a:rPr/>
              <a:t>旧演示数据脚本已移到 </a:t>
            </a:r>
            <a:r>
              <a:rPr>
                <a:latin typeface="Courier"/>
              </a:rPr>
              <a:t>scripts/legacy/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地图数据维护流</a:t>
            </a:r>
          </a:p>
        </p:txBody>
      </p:sp>
      <p:pic>
        <p:nvPicPr>
          <p:cNvPr descr="backend_diagrams/data_maintenance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当前限制与下一步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4 楼数据可跑通流程，但不是现场测绘精度</a:t>
            </a:r>
          </a:p>
          <a:p>
            <a:pPr lvl="0"/>
            <a:r>
              <a:rPr/>
              <a:t>展品资料仍是占位内容，需要替换为真实策展资料</a:t>
            </a:r>
          </a:p>
          <a:p>
            <a:pPr lvl="0"/>
            <a:r>
              <a:rPr/>
              <a:t>VLM 服务需要在部署环境中配置 API Key</a:t>
            </a:r>
          </a:p>
          <a:p>
            <a:pPr lvl="0"/>
            <a:r>
              <a:rPr/>
              <a:t>尚未加入鉴权、速率限制和持久化日志</a:t>
            </a:r>
          </a:p>
          <a:p>
            <a:pPr lvl="0"/>
            <a:r>
              <a:rPr/>
              <a:t>尚未接入真正 RAG 文档库</a:t>
            </a:r>
          </a:p>
          <a:p>
            <a:pPr lvl="0"/>
            <a:r>
              <a:rPr/>
              <a:t>需要部署到公网 HTTPS 后，才能供 ESP32 终端稳定调用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后端主链路已经具备：定位、导航、展品上下文</a:t>
            </a:r>
          </a:p>
          <a:p>
            <a:pPr lvl="0"/>
            <a:r>
              <a:rPr/>
              <a:t>数据层已经从演示数据升级为 4F 图结构</a:t>
            </a:r>
          </a:p>
          <a:p>
            <a:pPr lvl="0"/>
            <a:r>
              <a:rPr/>
              <a:t>当前“数据库”是 JSON 图数据和展品 facts</a:t>
            </a:r>
          </a:p>
          <a:p>
            <a:pPr lvl="0"/>
            <a:r>
              <a:rPr/>
              <a:t>可通过 Excel 维护地图，再烧录回 JSON</a:t>
            </a:r>
          </a:p>
          <a:p>
            <a:pPr lvl="0"/>
            <a:r>
              <a:rPr/>
              <a:t>下一阶段重点是现场校准、真实展品资料、VLM 联调和云部署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龙宾楼智能导览后端</dc:title>
  <dc:creator>Group 12 Backend</dc:creator>
  <cp:keywords/>
  <dcterms:created xsi:type="dcterms:W3CDTF">2026-07-14T13:12:39Z</dcterms:created>
  <dcterms:modified xsi:type="dcterms:W3CDTF">2026-07-14T13:12:39Z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2026-07-14</vt:lpwstr>
  </property>
  <property fmtid="{D5CDD505-2E9C-101B-9397-08002B2CF9AE}" pid="3" name="subtitle">
    <vt:lpwstr>服务架构、数据流与当前功能图文概览</vt:lpwstr>
  </property>
</Properties>
</file>